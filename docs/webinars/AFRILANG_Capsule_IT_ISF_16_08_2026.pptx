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frilang-africa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329184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137160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Calibri"/>
              </a:rPr>
              <a:t>AFRILANG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F07A1A"/>
                </a:solidFill>
                <a:latin typeface="Calibri"/>
              </a:rPr>
              <a:t>Coder l'Afrique de demain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E6EEF8"/>
                </a:solidFill>
                <a:latin typeface="Calibri"/>
              </a:rPr>
              <a:t>Un langage pensé pour l'inclusion, l'innovation
et la souveraineté numérique africaine.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892040"/>
            <a:ext cx="8046720" cy="1097280"/>
          </a:xfrm>
          <a:prstGeom prst="roundRect">
            <a:avLst/>
          </a:prstGeom>
          <a:solidFill>
            <a:srgbClr val="122A48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B06B"/>
                </a:solidFill>
                <a:latin typeface="Calibri"/>
              </a:rPr>
              <a:t>Capsule IT — Saison 2 · Épisode 3</a:t>
            </a:r>
          </a:p>
          <a:p>
            <a:r>
              <a:rPr sz="1400" b="0">
                <a:solidFill>
                  <a:srgbClr val="E6EEF8"/>
                </a:solidFill>
                <a:latin typeface="Calibri"/>
              </a:rPr>
              <a:t>Dimanche 16 août 2026  ·  19h00  ·  Google Meet</a:t>
            </a:r>
          </a:p>
          <a:p>
            <a:r>
              <a:rPr sz="1300" b="0">
                <a:solidFill>
                  <a:srgbClr val="9AAEC4"/>
                </a:solidFill>
                <a:latin typeface="Calibri"/>
              </a:rPr>
              <a:t>Organisé par Informaticiens sans frontière (ISF)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01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101" dur="indefinite" restart="never" nodeType="tmRoot">
          <p:childTnLst>
            <p:seq concurrent="1" nextAc="seek">
              <p:cTn id="102" dur="indefinite" nodeType="mainSeq"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Bienvenue à Capsule IT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Informaticiens sans frontière — Togo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Merci d'être présents pour ce webinaire en ligne.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ISF : « L'informatique au cœur du développement ».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Capsule IT démystifie les technologies et inspire l'action.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Objectif : comprendre AFRILANG, sa vision, et comment démarrer.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Format : présentation claire → démos → questions / réponses.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Notez vos questions — on les traitera en fin de session.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02  /  33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123" dur="indefinite" restart="never" nodeType="tmRoot">
          <p:childTnLst>
            <p:seq concurrent="1" nextAc="seek">
              <p:cTn id="124" dur="indefinite" nodeType="mainSeq"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10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Au programme ce soir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Parcours structuré (~60–90 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46504"/>
            <a:ext cx="3657600" cy="196596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3657600" cy="196596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01  Contexte &amp; enjeux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Souveraineté et inclusion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09928"/>
            <a:ext cx="362102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746504"/>
            <a:ext cx="3657600" cy="196596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3657600" cy="196596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02  Intervenant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Maxime Dzidula KELI · SIG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709928"/>
            <a:ext cx="362102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746504"/>
            <a:ext cx="3657600" cy="196596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91640"/>
            <a:ext cx="3657600" cy="196596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03  AFRILANG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Philosophie, syntaxe, archi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7" y="1709928"/>
            <a:ext cx="362102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895344"/>
            <a:ext cx="3657600" cy="196596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3840480"/>
            <a:ext cx="3657600" cy="196596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04  Cas d'usage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Éducation, SIG, innovation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3858768"/>
            <a:ext cx="362102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3895344"/>
            <a:ext cx="3657600" cy="196596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60" y="3840480"/>
            <a:ext cx="3657600" cy="196596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05  Communauté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Roadmap &amp; contribution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858768"/>
            <a:ext cx="362102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895344"/>
            <a:ext cx="3657600" cy="196596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3840480"/>
            <a:ext cx="3657600" cy="196596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06  Q &amp; 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Échanges ouverts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0727" y="3858768"/>
            <a:ext cx="362102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03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135" dur="indefinite" restart="never" nodeType="tmRoot">
          <p:childTnLst>
            <p:seq concurrent="1" nextAc="seek">
              <p:cTn id="136" dur="indefinite" nodeType="mainSeq"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10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10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10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10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10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10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Objectifs pédagogiques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Ce que vous emportez ce soir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46504"/>
            <a:ext cx="3657600" cy="429768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3657600" cy="429768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◎  Comprendre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Pourquoi un langage africain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Inclusion ≠ simplification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Souveraineté = maîtrise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Place d'AFRILANG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09928"/>
            <a:ext cx="362102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746504"/>
            <a:ext cx="3657600" cy="429768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3657600" cy="429768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⚡  Savoir faire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Lire la syntaxe naturelle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Lancer un 1er programme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Explorer le playground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Relier à vos projets (SIG…)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709928"/>
            <a:ext cx="362102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746504"/>
            <a:ext cx="3657600" cy="429768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91640"/>
            <a:ext cx="3657600" cy="429768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➜  Agir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Rejoindre la communauté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Proposer des exemples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Former autour de vous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Contribuer docs /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7" y="1709928"/>
            <a:ext cx="362102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04  /  33</a:t>
            </a:r>
          </a:p>
        </p:txBody>
      </p:sp>
    </p:spTree>
  </p:cSld>
  <p:transition spd="med" advClick="1">
    <p:wipe dir="r"/>
  </p:transition>
  <p:clrMapOvr>
    <a:masterClrMapping/>
  </p:clrMapOvr>
  <p:timing>
    <p:tnLst>
      <p:par>
        <p:cTn id="172" dur="indefinite" restart="never" nodeType="tmRoot">
          <p:childTnLst>
            <p:seq concurrent="1" nextAc="seek">
              <p:cTn id="173" dur="indefinite" nodeType="mainSeq"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10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10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100"/>
                            </p:stCondLst>
                            <p:childTnLst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Informaticiens sans frontière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L'informatique au service du développement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Association engagée pour démocratiser le numérique et former les talents.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Capsule IT : webinaire accessible, régulier, ouvert à tous les niveaux.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Passerelle entre technique, éducation et impact social.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Contact : Contact@isftogo.com  ·  +228 90 94 30 67  ·  +228 98 65 90 00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Site : http://isftogo.com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Ce soir : Saison 2 · Épisode 3 — focus AFRILANG.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05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194" dur="indefinite" restart="never" nodeType="tmRoot">
          <p:childTnLst>
            <p:seq concurrent="1" nextAc="seek">
              <p:cTn id="195" dur="indefinite" nodeType="mainSeq"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10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Intervenant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Maxime Dzidula KELI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46504"/>
            <a:ext cx="5532120" cy="429768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5532120" cy="429768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👤  Profil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Ingénieur géoinformaticien.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Solutions intégrant 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  • Systèmes d'information géographique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  • Technologies informatiques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Pont entre territoire et logiciel —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un axe stratégique pour l'Afrique.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09928"/>
            <a:ext cx="549554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46504"/>
            <a:ext cx="5532120" cy="429768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691640"/>
            <a:ext cx="5532120" cy="429768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🗺  Pourquoi ce sujet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Le SIG structure agriculture,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urbanisme, santé, logistique…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Un langage accessible accélère 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  • formation des équipes locales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  • prototypage d'outils métier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  • appropriation des données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AFRILANG + géomatique =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souveraineté code + territoire.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09928"/>
            <a:ext cx="54955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06  /  33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206" dur="indefinite" restart="never" nodeType="tmRoot">
          <p:childTnLst>
            <p:seq concurrent="1" nextAc="seek">
              <p:cTn id="207" dur="indefinite" nodeType="mainSeq"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10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100"/>
                            </p:stCondLst>
                            <p:childTnLst>
                              <p:par>
                                <p:cTn id="2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Le défi : coder pour l'Afrique, depuis l'Afrique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Des millions de jeunes motivés — mais des barrières linguistiques et cognitives.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Les langages dominants freinent souvent l'entrée en programmation.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Forte dépendance à des outils conçus hors du continent.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Peu de chaînes de compilation maîtrisées localement de bout en bout.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Besoin d'outils pédagogiques adaptés au contexte éducatif africain.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Question : former massivement sans perdre en exigence technique ?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07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223" dur="indefinite" restart="never" nodeType="tmRoot">
          <p:childTnLst>
            <p:seq concurrent="1" nextAc="seek">
              <p:cTn id="224" dur="indefinite" nodeType="mainSeq"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0"/>
                      </p:stCondLst>
                      <p:childTnLst>
                        <p:par>
                          <p:cTn id="231" fill="hold">
                            <p:stCondLst>
                              <p:cond delay="10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Souveraineté numérique : 4 leviers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792224"/>
            <a:ext cx="2788920" cy="411480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737360"/>
            <a:ext cx="2788920" cy="411480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Données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stocke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analyse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décide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755648"/>
            <a:ext cx="27523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792224"/>
            <a:ext cx="2788920" cy="411480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1737360"/>
            <a:ext cx="2788920" cy="411480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Logiciels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écrit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audite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maintient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1755648"/>
            <a:ext cx="275234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792224"/>
            <a:ext cx="2788920" cy="411480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788920" cy="411480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Compétences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forme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certifie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Qui emploie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755648"/>
            <a:ext cx="275234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792224"/>
            <a:ext cx="2788920" cy="411480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737360"/>
            <a:ext cx="2788920" cy="411480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Infrastructures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Cloud local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Open source 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Interop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62288" y="1755648"/>
            <a:ext cx="27523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08  /  33</a:t>
            </a:r>
          </a:p>
        </p:txBody>
      </p:sp>
    </p:spTree>
  </p:cSld>
  <p:transition spd="med" advClick="1">
    <p:wipe dir="r"/>
  </p:transition>
  <p:clrMapOvr>
    <a:masterClrMapping/>
  </p:clrMapOvr>
  <p:timing>
    <p:tnLst>
      <p:par>
        <p:cTn id="235" dur="indefinite" restart="never" nodeType="tmRoot">
          <p:childTnLst>
            <p:seq concurrent="1" nextAc="seek">
              <p:cTn id="236" dur="indefinite" nodeType="mainSeq"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10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100"/>
                            </p:stCondLst>
                            <p:childTnLst>
                              <p:par>
                                <p:cTn id="2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10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100"/>
                            </p:stCondLst>
                            <p:childTnLst>
                              <p:par>
                                <p:cTn id="2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Inclusion : baisser la barrière, pas le plafond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Inclusion ≠ langage « jouet » : vraie puissance (OOP, types, modules…).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Syntaxe naturelle : le code se rapproche de la pensée humaine.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Idéal collèges, lycées, bootcamps, universités, autodidactes.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Focus d'abord sur les algorithmes, puis la montée en compétence.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Generics, patterns, async, GUI, packages… le plafond reste haut.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AFRILANG : accessibilité à l'entrée + sérieux à la sortie.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09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262" dur="indefinite" restart="never" nodeType="tmRoot">
          <p:childTnLst>
            <p:seq concurrent="1" nextAc="seek">
              <p:cTn id="263" dur="indefinite" nodeType="mainSeq"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100"/>
                            </p:stCondLst>
                            <p:childTnLst>
                              <p:par>
                                <p:cTn id="2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Pourquoi AFRILANG plutôt qu'un framework éducatif 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92224"/>
            <a:ext cx="553212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553212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◆  Un vrai langage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Grammaire complète + compilateur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stdlib, packages, tests, playground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Transpile vers C++17 → perf &amp; écosystème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Cibles : natif, WASM, JS / Canvas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GUI : std/ui, game2d, game3d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55648"/>
            <a:ext cx="54955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92224"/>
            <a:ext cx="553212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53212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✦  Une identité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L'Afrique au centre du geste de coder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Narratif clair pour écoles &amp; États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Projet communautaire ancré localement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Docs bilingues FR / EN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Slogan : Coder l'Afrique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55648"/>
            <a:ext cx="549554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10  /  33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274" dur="indefinite" restart="never" nodeType="tmRoot">
          <p:childTnLst>
            <p:seq concurrent="1" nextAc="seek">
              <p:cTn id="275" dur="indefinite" nodeType="mainSeq"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100"/>
                            </p:stCondLst>
                            <p:childTnLst>
                              <p:par>
                                <p:cTn id="2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100"/>
                            </p:stCondLst>
                            <p:childTnLst>
                              <p:par>
                                <p:cTn id="2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AFRILANG en une phrase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10881360" cy="3108960"/>
          </a:xfrm>
          <a:prstGeom prst="roundRect">
            <a:avLst/>
          </a:prstGeom>
          <a:solidFill>
            <a:srgbClr val="122A48"/>
          </a:solidFill>
          <a:ln w="25400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Un langage orienté objet à syntaxe naturelle
qui transpile vers C++17 — conçu pour apprendre,
prototyper et déployer des logiciels depuis l'Afrique.</a:t>
            </a:r>
          </a:p>
          <a:p>
            <a:pPr>
              <a:spcBef>
                <a:spcPts val="1800"/>
              </a:spcBef>
            </a:pPr>
            <a:r>
              <a:rPr sz="1600" b="0">
                <a:solidFill>
                  <a:srgbClr val="FFB06B"/>
                </a:solidFill>
                <a:latin typeface="Calibri"/>
              </a:rPr>
              <a:t>afrilang.allcoders.tech   ·   Coder l'Afrique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11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291" dur="indefinite" restart="never" nodeType="tmRoot">
          <p:childTnLst>
            <p:seq concurrent="1" nextAc="seek">
              <p:cTn id="292" dur="indefinite" nodeType="mainSeq"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10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100"/>
                            </p:stCondLst>
                            <p:childTnLst>
                              <p:par>
                                <p:cTn id="3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Trois piliers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Lisibilité · Puissance · Souveraineté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①  1. Lisibilité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say "Bonjour"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if score is greater than 10…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while window is open do…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Le code se lit comme une explication.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55648"/>
            <a:ext cx="362102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②  2. Puissance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Classes, interfaces, enums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Génériques + where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Modules, packages, macros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Async / générateurs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GUI 2D / 3D + stdlib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755648"/>
            <a:ext cx="362102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③  3. Souveraineté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Compilateur maîtrisé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Chaîne native / WASM / web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Docs bilingues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Formation &amp; communauté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Vision continentale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7" y="1755648"/>
            <a:ext cx="362102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12  /  33</a:t>
            </a:r>
          </a:p>
        </p:txBody>
      </p:sp>
    </p:spTree>
  </p:cSld>
  <p:transition spd="med" advClick="1">
    <p:wipe dir="r"/>
  </p:transition>
  <p:clrMapOvr>
    <a:masterClrMapping/>
  </p:clrMapOvr>
  <p:timing>
    <p:tnLst>
      <p:par>
        <p:cTn id="308" dur="indefinite" restart="never" nodeType="tmRoot">
          <p:childTnLst>
            <p:seq concurrent="1" nextAc="seek">
              <p:cTn id="309" dur="indefinite" nodeType="mainSeq"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100"/>
                            </p:stCondLst>
                            <p:childTnLst>
                              <p:par>
                                <p:cTn id="3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0"/>
                      </p:stCondLst>
                      <p:childTnLst>
                        <p:par>
                          <p:cTn id="321" fill="hold">
                            <p:stCondLst>
                              <p:cond delay="100"/>
                            </p:stCondLst>
                            <p:childTnLst>
                              <p:par>
                                <p:cTn id="3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0"/>
                      </p:stCondLst>
                      <p:childTnLst>
                        <p:par>
                          <p:cTn id="326" fill="hold">
                            <p:stCondLst>
                              <p:cond delay="100"/>
                            </p:stCondLst>
                            <p:childTnLst>
                              <p:par>
                                <p:cTn id="3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Premier contact : Hello AFRILANG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5852160" cy="4297680"/>
          </a:xfrm>
          <a:prstGeom prst="roundRect">
            <a:avLst/>
          </a:prstGeom>
          <a:solidFill>
            <a:srgbClr val="071220"/>
          </a:solidFill>
          <a:ln w="1587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1819656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1819656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" y="1819656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783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EC4"/>
                </a:solidFill>
                <a:latin typeface="Calibri"/>
              </a:rPr>
              <a:t>exemple.afr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5394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say "Bonjour depuis AFRILANG!"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repeat 3 times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say "Hello"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end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create score = 85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if score is greater than 79 then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say "Bravo : {score}"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else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say "Continue"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746504"/>
            <a:ext cx="5120640" cy="429768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1691640"/>
            <a:ext cx="5120640" cy="429768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💡  Repères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say → afficher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create / set → variables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repeat / while / for each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Conditions en anglais naturel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Interpolation : "{score}"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Commentaires : //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8" y="1709928"/>
            <a:ext cx="508406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13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330" dur="indefinite" restart="never" nodeType="tmRoot">
          <p:childTnLst>
            <p:seq concurrent="1" nextAc="seek">
              <p:cTn id="331" dur="indefinite" nodeType="mainSeq"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0"/>
                      </p:stCondLst>
                      <p:childTnLst>
                        <p:par>
                          <p:cTn id="338" fill="hold">
                            <p:stCondLst>
                              <p:cond delay="100"/>
                            </p:stCondLst>
                            <p:childTnLst>
                              <p:par>
                                <p:cTn id="3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100"/>
                            </p:stCondLst>
                            <p:childTnLst>
                              <p:par>
                                <p:cTn id="3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Système de types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Clarté pour apprendre, rigueur pour grandir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Types de base : number, text, bool, listes, maps…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Optionnels (text?) et Result pour gérer absence / erreur.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Enums avec payloads : Status.Error with "message".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Génériques : function identity&lt;T&gt;(x T) returns T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Contraintes : where T is number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Le compilateur aide tôt — moins de surprises à l'exécution.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14  /  33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347" dur="indefinite" restart="never" nodeType="tmRoot">
          <p:childTnLst>
            <p:seq concurrent="1" nextAc="seek">
              <p:cTn id="348" dur="indefinite" nodeType="mainSeq"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100"/>
                            </p:stCondLst>
                            <p:childTnLst>
                              <p:par>
                                <p:cTn id="3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Orienté objet, sans jargon inutile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5943600" cy="4297680"/>
          </a:xfrm>
          <a:prstGeom prst="roundRect">
            <a:avLst/>
          </a:prstGeom>
          <a:solidFill>
            <a:srgbClr val="071220"/>
          </a:solidFill>
          <a:ln w="1587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1819656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1819656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" y="1819656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783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EC4"/>
                </a:solidFill>
                <a:latin typeface="Calibri"/>
              </a:rPr>
              <a:t>exemple.afr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5486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class Greeter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function hello()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    say "Hello from a class!"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end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end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create g = new Greeter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g.hello()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746504"/>
            <a:ext cx="5074920" cy="429768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1691640"/>
            <a:ext cx="5074920" cy="429768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🧩  Ce que ça ouvre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Classes &amp; constructeurs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Interfaces (contrats)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Héritage (extends)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Modélisation métier claire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Projets scolaires structurés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Apps réelles, pas jouets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1709928"/>
            <a:ext cx="50383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15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359" dur="indefinite" restart="never" nodeType="tmRoot">
          <p:childTnLst>
            <p:seq concurrent="1" nextAc="seek">
              <p:cTn id="360" dur="indefinite" nodeType="mainSeq"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100"/>
                            </p:stCondLst>
                            <p:childTnLst>
                              <p:par>
                                <p:cTn id="3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100"/>
                            </p:stCondLst>
                            <p:childTnLst>
                              <p:par>
                                <p:cTn id="3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Architecture du compilateur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De .afr à l'exécutable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59" y="2020824"/>
            <a:ext cx="1874519" cy="23774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1965960"/>
            <a:ext cx="1874519" cy="23774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Source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.afr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1984248"/>
            <a:ext cx="1837943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2020824"/>
            <a:ext cx="1874519" cy="23774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1965960"/>
            <a:ext cx="1874519" cy="23774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Lexer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1984248"/>
            <a:ext cx="1837943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2020824"/>
            <a:ext cx="1874519" cy="23774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59" y="1965960"/>
            <a:ext cx="1874519" cy="23774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Parser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7" y="1984248"/>
            <a:ext cx="1837943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39" y="2020824"/>
            <a:ext cx="1874519" cy="23774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19" y="1965960"/>
            <a:ext cx="1874519" cy="23774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Sémantique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1984248"/>
            <a:ext cx="1837943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2020824"/>
            <a:ext cx="1874519" cy="23774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3879" y="1965960"/>
            <a:ext cx="1874519" cy="23774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CodeGen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C++17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7" y="1984248"/>
            <a:ext cx="1837943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95560" y="2020824"/>
            <a:ext cx="1874519" cy="23774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49840" y="1965960"/>
            <a:ext cx="1874519" cy="23774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Backend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natif/WASM/JS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68128" y="1984248"/>
            <a:ext cx="1837943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EC4"/>
                </a:solidFill>
                <a:latin typeface="Calibri"/>
              </a:rPr>
              <a:t>Pipeline : .afr → imports → Lexer → Parser → AST → Sémantique → CodeGen → g++ / em++ / JS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E6EEF8"/>
                </a:solidFill>
                <a:latin typeface="Calibri"/>
              </a:rPr>
              <a:t>Un langage source — plusieurs cibles selon le besoin.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16  /  33</a:t>
            </a:r>
          </a:p>
        </p:txBody>
      </p:sp>
    </p:spTree>
  </p:cSld>
  <p:transition spd="med" advClick="1">
    <p:wipe dir="r"/>
  </p:transition>
  <p:clrMapOvr>
    <a:masterClrMapping/>
  </p:clrMapOvr>
  <p:timing>
    <p:tnLst>
      <p:par>
        <p:cTn id="376" dur="indefinite" restart="never" nodeType="tmRoot">
          <p:childTnLst>
            <p:seq concurrent="1" nextAc="seek">
              <p:cTn id="377" dur="indefinite" nodeType="mainSeq"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100"/>
                            </p:stCondLst>
                            <p:childTnLst>
                              <p:par>
                                <p:cTn id="3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100"/>
                            </p:stCondLst>
                            <p:childTnLst>
                              <p:par>
                                <p:cTn id="3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100"/>
                            </p:stCondLst>
                            <p:childTnLst>
                              <p:par>
                                <p:cTn id="3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100"/>
                            </p:stCondLst>
                            <p:childTnLst>
                              <p:par>
                                <p:cTn id="4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100"/>
                            </p:stCondLst>
                            <p:childTnLst>
                              <p:par>
                                <p:cTn id="4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100"/>
                            </p:stCondLst>
                            <p:childTnLst>
                              <p:par>
                                <p:cTn id="4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100"/>
                            </p:stCondLst>
                            <p:childTnLst>
                              <p:par>
                                <p:cTn id="4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Trois façons d'exécuter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🖥  Natif (C++)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afrilang run fichier.afr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Performance maximale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SDL pour GUI desktop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Apps &amp; jeux locaux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55648"/>
            <a:ext cx="362102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🌐  Playground web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Browser / Canvas / WebGL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Apprendre sans installer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UI + game2d + game3d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afrilang.allcoders.tech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755648"/>
            <a:ext cx="362102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📦  WASM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Exécution navigateur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Modules portables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Intégration sites / apps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Chaîne Emscripten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7" y="1755648"/>
            <a:ext cx="362102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17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418" dur="indefinite" restart="never" nodeType="tmRoot">
          <p:childTnLst>
            <p:seq concurrent="1" nextAc="seek">
              <p:cTn id="419" dur="indefinite" nodeType="mainSeq">
                <p:childTnLst>
                  <p:par>
                    <p:cTn id="420" fill="hold">
                      <p:stCondLst>
                        <p:cond delay="0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100"/>
                            </p:stCondLst>
                            <p:childTnLst>
                              <p:par>
                                <p:cTn id="4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431" fill="hold">
                            <p:stCondLst>
                              <p:cond delay="100"/>
                            </p:stCondLst>
                            <p:childTnLst>
                              <p:par>
                                <p:cTn id="4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100"/>
                            </p:stCondLst>
                            <p:childTnLst>
                              <p:par>
                                <p:cTn id="4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Bibliothèque standard &amp; packages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Modules std : math, collections, json, http, fs, crypto, datetime…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Graphisme : std/ui, std/game2d, std/game3d.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État de jeu : gamestate (menus, pause, game over).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Packages partageables (afrilang pkg …).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Documentation web bilingue FR / EN.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Exemples : hello, OOP, snake, démos 3D, finance…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18  /  33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440" dur="indefinite" restart="never" nodeType="tmRoot">
          <p:childTnLst>
            <p:seq concurrent="1" nextAc="seek">
              <p:cTn id="441" dur="indefinite" nodeType="mainSeq"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100"/>
                            </p:stCondLst>
                            <p:childTnLst>
                              <p:par>
                                <p:cTn id="4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Interfaces graphiques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Du bouton simple au monde 3D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5943600" cy="4297680"/>
          </a:xfrm>
          <a:prstGeom prst="roundRect">
            <a:avLst/>
          </a:prstGeom>
          <a:solidFill>
            <a:srgbClr val="071220"/>
          </a:solidFill>
          <a:ln w="1587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1819656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1819656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" y="1819656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783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EC4"/>
                </a:solidFill>
                <a:latin typeface="Calibri"/>
              </a:rPr>
              <a:t>exemple.afr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5486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open window titled "AFRILANG GUI"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with width 640, height 480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while window is open do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clear background color 28, 28, 36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draw text "Bonjour !" at 60, 80 size 32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if button "Quitter" at 220, 350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    width 200 height 50 is clicked then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    close window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end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   show frame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746504"/>
            <a:ext cx="5074920" cy="429768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1691640"/>
            <a:ext cx="5074920" cy="429768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🎮  Modules GUI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std/ui — fenêtres &amp; widgets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std/game2d — grilles, sprites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std/game3d — OpenGL / WebGL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Playground Canvas navigateur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Pédagogie visuelle forte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Projets motivants étudiants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1709928"/>
            <a:ext cx="503834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19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452" dur="indefinite" restart="never" nodeType="tmRoot">
          <p:childTnLst>
            <p:seq concurrent="1" nextAc="seek">
              <p:cTn id="453" dur="indefinite" nodeType="mainSeq"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100"/>
                            </p:stCondLst>
                            <p:childTnLst>
                              <p:par>
                                <p:cTn id="4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100"/>
                            </p:stCondLst>
                            <p:childTnLst>
                              <p:par>
                                <p:cTn id="4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Le playground : coder en 30 secondes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https://afrilang.allcoders.tech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Éditeur en ligne + exemples prêts à lancer.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Run natif (serveur) pour programmes texte.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Browser : JS/Canvas pour GUI sans installer SDL.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Workspace multi-fichiers dans le navigateur.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Parfait ateliers ISF, clubs, cours à distance.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Confidentialité &amp; consentement intégrés au site.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TextBox 482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20  /  33</a:t>
            </a:r>
          </a:p>
        </p:txBody>
      </p:sp>
    </p:spTree>
  </p:cSld>
  <p:transition spd="med" advClick="1">
    <p:wipe dir="r"/>
  </p:transition>
  <p:clrMapOvr>
    <a:masterClrMapping/>
  </p:clrMapOvr>
  <p:timing>
    <p:tnLst>
      <p:par>
        <p:cTn id="469" dur="indefinite" restart="never" nodeType="tmRoot">
          <p:childTnLst>
            <p:seq concurrent="1" nextAc="seek">
              <p:cTn id="470" dur="indefinite" nodeType="mainSeq"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100"/>
                            </p:stCondLst>
                            <p:childTnLst>
                              <p:par>
                                <p:cTn id="4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Cas d'usage : éducation &amp; 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🏫  Collège / Lycée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Premiers algorithmes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Boucles &amp; conditions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Mini-jeux 2D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Clubs informatiques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55648"/>
            <a:ext cx="362102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🎓  Université / Bootcamp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OOP &amp; architecture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Tests &amp; packages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Compilation &amp; backends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Projets GUI / WASM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755648"/>
            <a:ext cx="362102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🤝  Associations (ISF…)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Ateliers Capsule IT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Hackathons locaux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Mentorat pair-à-pair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Contenus FR accessibles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7" y="1755648"/>
            <a:ext cx="362102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21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481" dur="indefinite" restart="never" nodeType="tmRoot">
          <p:childTnLst>
            <p:seq concurrent="1" nextAc="seek">
              <p:cTn id="482" dur="indefinite" nodeType="mainSeq"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100"/>
                            </p:stCondLst>
                            <p:childTnLst>
                              <p:par>
                                <p:cTn id="4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100"/>
                            </p:stCondLst>
                            <p:childTnLst>
                              <p:par>
                                <p:cTn id="4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10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Cas d'usage : géomatique &amp; territoire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Pont avec l'expertise de Maxime Dzidula KELI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Le SIG structure la décision publique et privée.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Besoin de scripts / outils métiers adaptés localement.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AFRILANG : langage d'apprentissage avant Python/C++ SIG.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Prototypes : calculs, imports, petites UI de saisie.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Vision : packages formats géo, APIs carto, ETL légers.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Former des géomaticiens qui comprennent aussi le logiciel.</a:t>
            </a:r>
          </a:p>
        </p:txBody>
      </p:sp>
      <p:sp>
        <p:nvSpPr>
          <p:cNvPr id="515" name="Rectangle 5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516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22  /  33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503" dur="indefinite" restart="never" nodeType="tmRoot">
          <p:childTnLst>
            <p:seq concurrent="1" nextAc="seek">
              <p:cTn id="504" dur="indefinite" nodeType="mainSeq">
                <p:childTnLst>
                  <p:par>
                    <p:cTn id="505" fill="hold">
                      <p:stCondLst>
                        <p:cond delay="0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100"/>
                            </p:stCondLst>
                            <p:childTnLst>
                              <p:par>
                                <p:cTn id="5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Cas d'usage : innovation locale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792224"/>
            <a:ext cx="2788920" cy="411480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737360"/>
            <a:ext cx="2788920" cy="411480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AgriTech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Suivi parcelles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Alertes saisonnières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Coopératives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755648"/>
            <a:ext cx="27523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792224"/>
            <a:ext cx="2788920" cy="411480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1737360"/>
            <a:ext cx="2788920" cy="411480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EdTech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Exercices interactifs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Jeux éducatifs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Évaluations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1755648"/>
            <a:ext cx="275234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792224"/>
            <a:ext cx="2788920" cy="411480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788920" cy="411480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FinTech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Micro-gestion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Budgets coopératifs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Éducation financière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755648"/>
            <a:ext cx="275234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792224"/>
            <a:ext cx="2788920" cy="411480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737360"/>
            <a:ext cx="2788920" cy="411480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CivicTech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Open data local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Cartes citoyennes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Services mairie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62288" y="1755648"/>
            <a:ext cx="27523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23  /  33</a:t>
            </a:r>
          </a:p>
        </p:txBody>
      </p:sp>
    </p:spTree>
  </p:cSld>
  <p:transition spd="med" advClick="1">
    <p:wipe dir="r"/>
  </p:transition>
  <p:clrMapOvr>
    <a:masterClrMapping/>
  </p:clrMapOvr>
  <p:timing>
    <p:tnLst>
      <p:par>
        <p:cTn id="515" dur="indefinite" restart="never" nodeType="tmRoot">
          <p:childTnLst>
            <p:seq concurrent="1" nextAc="seek">
              <p:cTn id="516" dur="indefinite" nodeType="mainSeq"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100"/>
                            </p:stCondLst>
                            <p:childTnLst>
                              <p:par>
                                <p:cTn id="5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100"/>
                            </p:stCondLst>
                            <p:childTnLst>
                              <p:par>
                                <p:cTn id="5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100"/>
                            </p:stCondLst>
                            <p:childTnLst>
                              <p:par>
                                <p:cTn id="5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100"/>
                            </p:stCondLst>
                            <p:childTnLst>
                              <p:par>
                                <p:cTn id="5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Fil conducteur de démonstration (live)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1) Hello + conditions dans le playground (2 min).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2) Petite classe Greeter — OOP accessible (3 min).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3) gui_demo : fenêtre + bouton Quitter (3 min).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4) Aperçu snake / game2d : motivation visuelle (3 min).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5) Mention game3d_demo : même langage, monde 3D (2 min).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6) Où trouver docs, exemples, téléchargements (2 min).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24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542" dur="indefinite" restart="never" nodeType="tmRoot">
          <p:childTnLst>
            <p:seq concurrent="1" nextAc="seek">
              <p:cTn id="543" dur="indefinite" nodeType="mainSeq"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100"/>
                            </p:stCondLst>
                            <p:childTnLst>
                              <p:par>
                                <p:cTn id="5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Démarrer en local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Pour aller plus loin que le navigateur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47120" cy="4297680"/>
          </a:xfrm>
          <a:prstGeom prst="roundRect">
            <a:avLst/>
          </a:prstGeom>
          <a:solidFill>
            <a:srgbClr val="071220"/>
          </a:solidFill>
          <a:ln w="1587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819656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819656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1819656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1783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EC4"/>
                </a:solidFill>
                <a:latin typeface="Calibri"/>
              </a:rPr>
              <a:t>exemple.afr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107899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# Construire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cmake -S . -B build &amp;&amp; cmake --build build -j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# Lancer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./build/afrilang run examples/hello.afr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./build/afrilang run examples/gui_demo.afr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# Playground (sans install lourde)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AE8A0"/>
                </a:solidFill>
                <a:latin typeface="Consolas"/>
              </a:rPr>
              <a:t># https://afrilang.allcoders.tech/playground/</a:t>
            </a:r>
          </a:p>
        </p:txBody>
      </p:sp>
      <p:sp>
        <p:nvSpPr>
          <p:cNvPr id="566" name="Rectangle 56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25  /  33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554" dur="indefinite" restart="never" nodeType="tmRoot">
          <p:childTnLst>
            <p:seq concurrent="1" nextAc="seek">
              <p:cTn id="555" dur="indefinite" nodeType="mainSeq">
                <p:childTnLst>
                  <p:par>
                    <p:cTn id="556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100"/>
                            </p:stCondLst>
                            <p:childTnLst>
                              <p:par>
                                <p:cTn id="5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Communauté &amp; contribution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Contribuer : exemples, traductions, docs, correctifs.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Partager : ateliers ISF, clubs, tutoriels vidéo FR.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Proposer : besoins métier (SIG, finance, éducation).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Tester : remonter bugs playground &amp; plateformes.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Réseau : développeurs, enseignants, décideurs.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6EEF8"/>
                </a:solidFill>
                <a:latin typeface="Calibri"/>
              </a:rPr>
              <a:t>▸  Éthique : inclusion, ouverture, exigence technique.</a:t>
            </a:r>
          </a:p>
        </p:txBody>
      </p:sp>
      <p:sp>
        <p:nvSpPr>
          <p:cNvPr id="578" name="Rectangle 5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26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566" dur="indefinite" restart="never" nodeType="tmRoot">
          <p:childTnLst>
            <p:seq concurrent="1" nextAc="seek">
              <p:cTn id="567" dur="indefinite" nodeType="mainSeq"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100"/>
                            </p:stCondLst>
                            <p:childTnLst>
                              <p:par>
                                <p:cTn id="5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Vision &amp;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▶  Court terme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Playground GUI renforcé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Docs &amp; tutoriels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Exemples métiers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Ateliers Capsule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55648"/>
            <a:ext cx="362102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▶▶  Moyen terme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Packages géo / data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Meilleur support IDE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Formations certifiantes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Partenariats écoles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755648"/>
            <a:ext cx="362102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792224"/>
            <a:ext cx="365760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737360"/>
            <a:ext cx="365760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3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3AB4E8"/>
                </a:solidFill>
                <a:latin typeface="Calibri"/>
              </a:rPr>
              <a:t>★  Long terme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Écosystème continental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Outils souverains métiers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Communauté multi-pays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Standard éducatif 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7" y="1755648"/>
            <a:ext cx="3621024" cy="64008"/>
          </a:xfrm>
          <a:prstGeom prst="rect">
            <a:avLst/>
          </a:prstGeom>
          <a:solidFill>
            <a:srgbClr val="3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27  /  33</a:t>
            </a:r>
          </a:p>
        </p:txBody>
      </p:sp>
    </p:spTree>
  </p:cSld>
  <p:transition spd="med" advClick="1">
    <p:wipe dir="r"/>
  </p:transition>
  <p:clrMapOvr>
    <a:masterClrMapping/>
  </p:clrMapOvr>
  <p:timing>
    <p:tnLst>
      <p:par>
        <p:cTn id="578" dur="indefinite" restart="never" nodeType="tmRoot">
          <p:childTnLst>
            <p:seq concurrent="1" nextAc="seek">
              <p:cTn id="579" dur="indefinite" nodeType="mainSeq">
                <p:childTnLst>
                  <p:par>
                    <p:cTn id="580" fill="hold">
                      <p:stCondLst>
                        <p:cond delay="0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0"/>
                      </p:stCondLst>
                      <p:childTnLst>
                        <p:par>
                          <p:cTn id="586" fill="hold">
                            <p:stCondLst>
                              <p:cond delay="100"/>
                            </p:stCondLst>
                            <p:childTnLst>
                              <p:par>
                                <p:cTn id="5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0" fill="hold">
                      <p:stCondLst>
                        <p:cond delay="0"/>
                      </p:stCondLst>
                      <p:childTnLst>
                        <p:par>
                          <p:cTn id="591" fill="hold">
                            <p:stCondLst>
                              <p:cond delay="100"/>
                            </p:stCondLst>
                            <p:childTnLst>
                              <p:par>
                                <p:cTn id="5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100"/>
                            </p:stCondLst>
                            <p:childTnLst>
                              <p:par>
                                <p:cTn id="5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À retenir ce soir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5 messages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1. L'Afrique a besoin d'outils qu'elle comprend, enseigne et maîtrise.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2. AFRILANG allie syntaxe naturelle et backend sérieux (C++ / WASM / web).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3. Inclusion et excellence technique ne s'opposent pas.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4. Le playground abaisse la barrière ; le compilateur lève le plafond.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E6EEF8"/>
                </a:solidFill>
                <a:latin typeface="Calibri"/>
              </a:rPr>
              <a:t>▸  5. La souveraineté numérique commence par des compétences locales.</a:t>
            </a:r>
          </a:p>
        </p:txBody>
      </p:sp>
      <p:sp>
        <p:nvSpPr>
          <p:cNvPr id="612" name="Rectangle 6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28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600" dur="indefinite" restart="never" nodeType="tmRoot">
          <p:childTnLst>
            <p:seq concurrent="1" nextAc="seek">
              <p:cTn id="601" dur="indefinite" nodeType="mainSeq"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100"/>
                            </p:stCondLst>
                            <p:childTnLst>
                              <p:par>
                                <p:cTn id="6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Appel à l'action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B06B"/>
                </a:solidFill>
                <a:latin typeface="Calibri"/>
              </a:rPr>
              <a:t>Que faire dès demain 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92224"/>
            <a:ext cx="553212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553212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🚀  Apprenants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1. Ouvrir le playground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2. Lancer hello + gui_demo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3. Modifier un exemple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4. Partager à un ami / club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5. Poser une question à ISF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55648"/>
            <a:ext cx="54955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92224"/>
            <a:ext cx="553212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53212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🏛  Structures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1. Planifier un atelier AFRILANG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2. Module d'initiation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3. Relier à un besoin SIG / métier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4. Soutenir la documentation FR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5. Co-construire des packages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55648"/>
            <a:ext cx="549554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29  /  33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612" dur="indefinite" restart="never" nodeType="tmRoot">
          <p:childTnLst>
            <p:seq concurrent="1" nextAc="seek">
              <p:cTn id="613" dur="indefinite" nodeType="mainSeq">
                <p:childTnLst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100"/>
                            </p:stCondLst>
                            <p:childTnLst>
                              <p:par>
                                <p:cTn id="6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100"/>
                            </p:stCondLst>
                            <p:childTnLst>
                              <p:par>
                                <p:cTn id="6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Questions / Réponses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194560"/>
            <a:ext cx="9966960" cy="3200400"/>
          </a:xfrm>
          <a:prstGeom prst="roundRect">
            <a:avLst/>
          </a:prstGeom>
          <a:solidFill>
            <a:srgbClr val="122A48"/>
          </a:solidFill>
          <a:ln w="25400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235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Merci pour votre attention.</a:t>
            </a:r>
          </a:p>
          <a:p>
            <a:pPr>
              <a:spcBef>
                <a:spcPts val="1600"/>
              </a:spcBef>
            </a:pPr>
            <a:r>
              <a:rPr sz="1800" b="0">
                <a:solidFill>
                  <a:srgbClr val="E6EEF8"/>
                </a:solidFill>
                <a:latin typeface="Calibri"/>
              </a:rPr>
              <a:t>Questions sur le langage, l'installation, la pédagogie,
le SIG, la feuille de route, la contribution…</a:t>
            </a:r>
          </a:p>
        </p:txBody>
      </p:sp>
      <p:sp>
        <p:nvSpPr>
          <p:cNvPr id="646" name="Rectangle 6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30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629" dur="indefinite" restart="never" nodeType="tmRoot">
          <p:childTnLst>
            <p:seq concurrent="1" nextAc="seek">
              <p:cTn id="630" dur="indefinite" nodeType="mainSeq"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100"/>
                            </p:stCondLst>
                            <p:childTnLst>
                              <p:par>
                                <p:cTn id="6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100"/>
                            </p:stCondLst>
                            <p:childTnLst>
                              <p:par>
                                <p:cTn id="6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Contacts &amp; ressources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92224"/>
            <a:ext cx="553212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553212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F07A1A"/>
                </a:solidFill>
                <a:latin typeface="Calibri"/>
              </a:rPr>
              <a:t>☎  Informaticiens sans frontière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Email : Contact@isftogo.com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Tél. : +228 90 94 30 67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Tél. : +228 98 65 90 00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Web : http://isftogo.com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Capsule IT — S2E3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Dim 16/08/2026 · 19h00 · Meet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55648"/>
            <a:ext cx="5495544" cy="6400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92224"/>
            <a:ext cx="5532120" cy="4206240"/>
          </a:xfrm>
          <a:prstGeom prst="round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532120" cy="4206240"/>
          </a:xfrm>
          <a:prstGeom prst="roundRect">
            <a:avLst/>
          </a:prstGeom>
          <a:solidFill>
            <a:srgbClr val="122A48"/>
          </a:solidFill>
          <a:ln w="22225">
            <a:solidFill>
              <a:srgbClr val="2EC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500" b="1">
                <a:solidFill>
                  <a:srgbClr val="2EC05A"/>
                </a:solidFill>
                <a:latin typeface="Calibri"/>
              </a:rPr>
              <a:t>🌍  AFRILANG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Site : afrilang.allcoders.tech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Playground en ligne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Documentation FR / EN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Exemples &amp; stdlib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Slogan : Coder l'Afrique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E6EEF8"/>
                </a:solidFill>
                <a:latin typeface="Calibri"/>
              </a:rPr>
              <a:t>Intervenant : Maxime Dzidula KELI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55648"/>
            <a:ext cx="5495544" cy="64008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31  /  33</a:t>
            </a:r>
          </a:p>
        </p:txBody>
      </p:sp>
    </p:spTree>
  </p:cSld>
  <p:transition spd="med" advClick="1">
    <p:wipe dir="r"/>
  </p:transition>
  <p:clrMapOvr>
    <a:masterClrMapping/>
  </p:clrMapOvr>
  <p:timing>
    <p:tnLst>
      <p:par>
        <p:cTn id="646" dur="indefinite" restart="never" nodeType="tmRoot">
          <p:childTnLst>
            <p:seq concurrent="1" nextAc="seek">
              <p:cTn id="647" dur="indefinite" nodeType="mainSeq"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0"/>
                      </p:stCondLst>
                      <p:childTnLst>
                        <p:par>
                          <p:cTn id="654" fill="hold">
                            <p:stCondLst>
                              <p:cond delay="100"/>
                            </p:stCondLst>
                            <p:childTnLst>
                              <p:par>
                                <p:cTn id="6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100"/>
                            </p:stCondLst>
                            <p:childTnLst>
                              <p:par>
                                <p:cTn id="6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2148840" cy="292608"/>
          </a:xfrm>
          <a:prstGeom prst="roundRect">
            <a:avLst/>
          </a:prstGeom>
          <a:solidFill>
            <a:srgbClr val="163252"/>
          </a:solidFill>
          <a:ln w="15875">
            <a:solidFill>
              <a:srgbClr val="F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B06B"/>
                </a:solidFill>
                <a:latin typeface="Calibri"/>
              </a:rPr>
              <a:t>CAPSULE IT  ·  ISF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Remerciements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9032"/>
            <a:ext cx="1463040" cy="45720"/>
          </a:xfrm>
          <a:prstGeom prst="rect">
            <a:avLst/>
          </a:prstGeom>
          <a:solidFill>
            <a:srgbClr val="2E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E6EEF8"/>
                </a:solidFill>
                <a:latin typeface="Calibri"/>
              </a:rPr>
              <a:t>▸  Merci à Informaticiens sans frontière pour Capsule IT.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E6EEF8"/>
                </a:solidFill>
                <a:latin typeface="Calibri"/>
              </a:rPr>
              <a:t>▸  Merci à Maxime Dzidula KELI pour le partage d'expertise.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E6EEF8"/>
                </a:solidFill>
                <a:latin typeface="Calibri"/>
              </a:rPr>
              <a:t>▸  Merci à toutes les personnes connectées ce soir.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E6EEF8"/>
                </a:solidFill>
                <a:latin typeface="Calibri"/>
              </a:rPr>
              <a:t>▸  Merci aux contributeurs qui font vivre AFRILANG.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E6EEF8"/>
                </a:solidFill>
                <a:latin typeface="Calibri"/>
              </a:rPr>
              <a:t>▸  Ensemble, codons l'Afrique de demain — avec exigence et inclusion.</a:t>
            </a:r>
          </a:p>
        </p:txBody>
      </p:sp>
      <p:sp>
        <p:nvSpPr>
          <p:cNvPr id="675" name="Rectangle 67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32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663" dur="indefinite" restart="never" nodeType="tmRoot">
          <p:childTnLst>
            <p:seq concurrent="1" nextAc="seek">
              <p:cTn id="664" dur="indefinite" nodeType="mainSeq"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fill="hold">
                      <p:stCondLst>
                        <p:cond delay="0"/>
                      </p:stCondLst>
                      <p:childTnLst>
                        <p:par>
                          <p:cTn id="671" fill="hold">
                            <p:stCondLst>
                              <p:cond delay="100"/>
                            </p:stCondLst>
                            <p:childTnLst>
                              <p:par>
                                <p:cTn id="6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frilang-africa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51560"/>
            <a:ext cx="288036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004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AFRILANG</a:t>
            </a:r>
          </a:p>
          <a:p>
            <a:pPr algn="ctr"/>
            <a:r>
              <a:rPr sz="2600" b="1">
                <a:solidFill>
                  <a:srgbClr val="F07A1A"/>
                </a:solidFill>
                <a:latin typeface="Calibri"/>
              </a:rPr>
              <a:t>Coder l'Afrique de demain</a:t>
            </a:r>
          </a:p>
          <a:p>
            <a:pPr algn="ctr">
              <a:spcBef>
                <a:spcPts val="1800"/>
              </a:spcBef>
            </a:pPr>
            <a:r>
              <a:rPr sz="1500" b="0">
                <a:solidFill>
                  <a:srgbClr val="9AAEC4"/>
                </a:solidFill>
                <a:latin typeface="Calibri"/>
              </a:rPr>
              <a:t>ISF  ·  Capsule IT S2E3  ·  16 août 2026</a:t>
            </a:r>
          </a:p>
        </p:txBody>
      </p:sp>
      <p:sp>
        <p:nvSpPr>
          <p:cNvPr id="687" name="Rectangle 68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0" y="6537960"/>
            <a:ext cx="12191695" cy="41148"/>
          </a:xfrm>
          <a:prstGeom prst="rect">
            <a:avLst/>
          </a:prstGeom>
          <a:solidFill>
            <a:srgbClr val="F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411480" y="66019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EC4"/>
                </a:solidFill>
                <a:latin typeface="Calibri"/>
              </a:rPr>
              <a:t>ISF  ·  Capsule IT S2E3  ·  AFRILANG — Coder l'Afrique de demain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10424160" y="660196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B06B"/>
                </a:solidFill>
                <a:latin typeface="Calibri"/>
              </a:rPr>
              <a:t>33  /  33</a:t>
            </a:r>
          </a:p>
        </p:txBody>
      </p:sp>
    </p:spTree>
  </p:cSld>
  <p:transition spd="med" advClick="1">
    <p:fade/>
  </p:transition>
  <p:clrMapOvr>
    <a:masterClrMapping/>
  </p:clrMapOvr>
  <p:timing>
    <p:tnLst>
      <p:par>
        <p:cTn id="675" dur="indefinite" restart="never" nodeType="tmRoot">
          <p:childTnLst>
            <p:seq concurrent="1" nextAc="seek">
              <p:cTn id="676" dur="indefinite" nodeType="mainSeq"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100"/>
                            </p:stCondLst>
                            <p:childTnLst>
                              <p:par>
                                <p:cTn id="6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